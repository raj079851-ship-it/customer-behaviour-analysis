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useoModerno"/>
      <p:regular r:id="rId201314"/>
    </p:embeddedFont>
    <p:embeddedFont>
      <p:font typeface="MuseoModerno Medium"/>
      <p:regular r:id="rId201315"/>
    </p:embeddedFont>
    <p:embeddedFont>
      <p:font typeface="MuseoModerno SemiBold"/>
      <p:regular r:id="rId201316"/>
    </p:embeddedFont>
    <p:embeddedFont>
      <p:font typeface="MuseoModerno Bold"/>
      <p:regular r:id="rId201317"/>
    </p:embeddedFont>
    <p:embeddedFont>
      <p:font typeface="MuseoModerno Black"/>
      <p:regular r:id="rId201318"/>
    </p:embeddedFont>
    <p:embeddedFont>
      <p:font typeface="Source Sans 3"/>
      <p:regular r:id="rId201319"/>
    </p:embeddedFont>
    <p:embeddedFont>
      <p:font typeface="Source Sans 3 Medium"/>
      <p:regular r:id="rId201320"/>
    </p:embeddedFont>
    <p:embeddedFont>
      <p:font typeface="Source Sans 3 SemiBold"/>
      <p:regular r:id="rId201321"/>
    </p:embeddedFont>
    <p:embeddedFont>
      <p:font typeface="Source Sans 3 Bold"/>
      <p:regular r:id="rId201322"/>
    </p:embeddedFont>
    <p:embeddedFont>
      <p:font typeface="Source Sans 3 Black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2.png"/><Relationship Id="rId11" Type="http://schemas.openxmlformats.org/officeDocument/2006/relationships/image" Target="../media/image-8-3.svg"/><Relationship Id="rId12" Type="http://schemas.openxmlformats.org/officeDocument/2006/relationships/image" Target="../media/image-8-12.png"/><Relationship Id="rId13" Type="http://schemas.openxmlformats.org/officeDocument/2006/relationships/image" Target="../media/image-8-13.svg"/><Relationship Id="rId14" Type="http://schemas.openxmlformats.org/officeDocument/2006/relationships/image" Target="../media/image-8-2.png"/><Relationship Id="rId15" Type="http://schemas.openxmlformats.org/officeDocument/2006/relationships/image" Target="../media/image-8-3.svg"/><Relationship Id="rId16" Type="http://schemas.openxmlformats.org/officeDocument/2006/relationships/image" Target="../media/image-8-16.png"/><Relationship Id="rId17" Type="http://schemas.openxmlformats.org/officeDocument/2006/relationships/image" Target="../media/image-8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9310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Customer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5787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end-to-end data analytics project examining e-commerce customer patterns, transaction behavior, revenue generation, and churn using Python, SQL, and Power BI.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577755"/>
            <a:ext cx="2967459" cy="287139"/>
          </a:xfrm>
          <a:prstGeom prst="roundRect">
            <a:avLst>
              <a:gd name="adj" fmla="val 7899"/>
            </a:avLst>
          </a:prstGeom>
          <a:solidFill>
            <a:srgbClr val="DBE8F0"/>
          </a:solidFill>
          <a:ln/>
        </p:spPr>
      </p:sp>
      <p:sp>
        <p:nvSpPr>
          <p:cNvPr id="6" name="Text 3"/>
          <p:cNvSpPr/>
          <p:nvPr/>
        </p:nvSpPr>
        <p:spPr>
          <a:xfrm>
            <a:off x="774879" y="4634409"/>
            <a:ext cx="335023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ROHIT KUMAR | ENROL. NO. 2302161630085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723388" y="4577755"/>
            <a:ext cx="2611174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325F7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36792" y="4634409"/>
            <a:ext cx="299395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&amp; DATA SCIENCE | SESSION 2026–27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0168"/>
            <a:ext cx="6296860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Why Customer Behavior Analysis?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61475" y="1827113"/>
            <a:ext cx="6296860" cy="1198662"/>
          </a:xfrm>
          <a:prstGeom prst="roundRect">
            <a:avLst>
              <a:gd name="adj" fmla="val 2107"/>
            </a:avLst>
          </a:prstGeom>
          <a:solidFill>
            <a:srgbClr val="F3EEE3"/>
          </a:solidFill>
          <a:ln/>
        </p:spPr>
      </p:sp>
      <p:sp>
        <p:nvSpPr>
          <p:cNvPr id="5" name="Text 2"/>
          <p:cNvSpPr/>
          <p:nvPr/>
        </p:nvSpPr>
        <p:spPr>
          <a:xfrm>
            <a:off x="829746" y="1995388"/>
            <a:ext cx="59603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Purchasing Patterns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29746" y="2348309"/>
            <a:ext cx="5960318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how frequently customers purchase and how behavior varies across segments.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3175695"/>
            <a:ext cx="6296860" cy="944066"/>
          </a:xfrm>
          <a:prstGeom prst="roundRect">
            <a:avLst>
              <a:gd name="adj" fmla="val 2675"/>
            </a:avLst>
          </a:prstGeom>
          <a:solidFill>
            <a:srgbClr val="F3EEE3"/>
          </a:solidFill>
          <a:ln/>
        </p:spPr>
      </p:sp>
      <p:sp>
        <p:nvSpPr>
          <p:cNvPr id="8" name="Text 5"/>
          <p:cNvSpPr/>
          <p:nvPr/>
        </p:nvSpPr>
        <p:spPr>
          <a:xfrm>
            <a:off x="829746" y="3343970"/>
            <a:ext cx="59603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Valuable Customers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9746" y="3696891"/>
            <a:ext cx="596031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Recognize customers who contribute significantly to overall revenue.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1475" y="4269680"/>
            <a:ext cx="6296860" cy="944066"/>
          </a:xfrm>
          <a:prstGeom prst="roundRect">
            <a:avLst>
              <a:gd name="adj" fmla="val 2675"/>
            </a:avLst>
          </a:prstGeom>
          <a:solidFill>
            <a:srgbClr val="F3EEE3"/>
          </a:solidFill>
          <a:ln/>
        </p:spPr>
      </p:sp>
      <p:sp>
        <p:nvSpPr>
          <p:cNvPr id="11" name="Text 8"/>
          <p:cNvSpPr/>
          <p:nvPr/>
        </p:nvSpPr>
        <p:spPr>
          <a:xfrm>
            <a:off x="829746" y="4437955"/>
            <a:ext cx="59603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Churn Detection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29746" y="4790877"/>
            <a:ext cx="596031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which customers may discontinue their relationship with the business.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5363666"/>
            <a:ext cx="6296860" cy="944066"/>
          </a:xfrm>
          <a:prstGeom prst="roundRect">
            <a:avLst>
              <a:gd name="adj" fmla="val 2675"/>
            </a:avLst>
          </a:prstGeom>
          <a:solidFill>
            <a:srgbClr val="F3EEE3"/>
          </a:solidFill>
          <a:ln/>
        </p:spPr>
      </p:sp>
      <p:sp>
        <p:nvSpPr>
          <p:cNvPr id="14" name="Text 11"/>
          <p:cNvSpPr/>
          <p:nvPr/>
        </p:nvSpPr>
        <p:spPr>
          <a:xfrm>
            <a:off x="829746" y="5531941"/>
            <a:ext cx="59603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Data-Driven Decisions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29746" y="5884863"/>
            <a:ext cx="596031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KPIs like total customers, revenue, orders, and churn rate support strategic planning.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930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Problem Statement &amp; Objectives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81188"/>
            <a:ext cx="6910810" cy="39161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18163" y="1547217"/>
            <a:ext cx="3518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The Problem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018163" y="2000349"/>
            <a:ext cx="3518308" cy="1407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E-commerce businesses generate large volumes of customer data, but raw data alone does not reveal purchasing patterns, customer segments, or churn behavior. An integrated analytics solution is needed.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18163" y="3579416"/>
            <a:ext cx="3518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Key Objectives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018163" y="4032548"/>
            <a:ext cx="3518308" cy="2210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 and preprocess the dataset using Python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 EDA to identify patterns and trends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 customer churn using SQL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Derive business insights and KPIs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an interactive Power BI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66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Tools &amp; Technologies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45283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59546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Python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968228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preprocessing, cleaning, EDA, and statistical analysis using Pandas, NumPy, Matplotlib, and Seaborn.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945283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559546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PostgreSQL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2968228"/>
            <a:ext cx="53163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 environment for storing the cleaned dataset and running structured SQL queries for customer, order, revenue, and churn analysis.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53508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67771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Power BI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76453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dashboard development with KPIs, charts, and visualizations for business intelligence.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253508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67771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Jupyter Notebook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76453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Working environment for Python-based data cleaning, analysis, and experimentation.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575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Project Methodology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21172"/>
            <a:ext cx="1147833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project follows a structured, end-to-end analytical workflow that transforms raw e-commerce data into actionable business intelligence.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1397099"/>
            <a:ext cx="10779153" cy="46482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31583" y="5163907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SQL Analysis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4087901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EDA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3022763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Clean Data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31583" y="1946757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Collect Data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6145907"/>
            <a:ext cx="1147833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stage builds on the previous, ensuring data quality and progressively deeper analytical insight before final visualization.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165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 Preprocessing &amp; EDA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25972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Preprocessing Steps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838920"/>
            <a:ext cx="3537060" cy="2193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Missing Value Analysis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Identified and handled null values across all columns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Duplicate Removal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Eliminated repeated customer and transaction records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Data Type Validation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Ensured correct types for numerical, categorical, and date fields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Categorical Inspection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Checked product category, payment method, and gender values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4182765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EDA Focus Areas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1475" y="4595713"/>
            <a:ext cx="3537060" cy="168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characteristics and demographics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 category and payment method distribution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Numerical variable distributions and relationships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Purchasing behavior patterns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5640" y="1843484"/>
            <a:ext cx="6920831" cy="3921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99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Churn Analysis &amp; Business Insights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71563"/>
            <a:ext cx="6913390" cy="39176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13400" y="1502966"/>
            <a:ext cx="352307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Churn Analysis (via SQL)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013400" y="1945977"/>
            <a:ext cx="352307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churn was calculated by comparing churned customers against the total base. Analysis covered: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013400" y="2919313"/>
            <a:ext cx="3523070" cy="1272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Overall churn rate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Churn rate segmented by gender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Characteristics of churned customers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Relationship between behavior and churn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13400" y="4358382"/>
            <a:ext cx="352307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Business Insights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13400" y="4801394"/>
            <a:ext cx="3523070" cy="137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 queries on the PostgreSQL dataset revealed patterns in revenue, orders, product categories, payment methods, and customer demographics — supporting targeted retention and marketing strategies.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1395"/>
            <a:ext cx="6296860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Power BI Dashboard</a:t>
            </a:r>
            <a:endParaRPr lang="en-US" sz="2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076821"/>
            <a:ext cx="6296860" cy="1128117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2020" y="1196380"/>
            <a:ext cx="159441" cy="15944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385261" y="1608336"/>
            <a:ext cx="59930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Total Customers</a:t>
            </a:r>
            <a:endParaRPr lang="en-US" sz="1300" dirty="0"/>
          </a:p>
        </p:txBody>
      </p:sp>
      <p:sp>
        <p:nvSpPr>
          <p:cNvPr id="7" name="Text 2"/>
          <p:cNvSpPr/>
          <p:nvPr/>
        </p:nvSpPr>
        <p:spPr>
          <a:xfrm>
            <a:off x="5385261" y="1871960"/>
            <a:ext cx="59930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Shows the complete customer base size.</a:t>
            </a:r>
            <a:endParaRPr lang="en-US" sz="10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2298303"/>
            <a:ext cx="6296860" cy="1128117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02020" y="2417862"/>
            <a:ext cx="159441" cy="159445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385261" y="2829818"/>
            <a:ext cx="59930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11" name="Text 4"/>
          <p:cNvSpPr/>
          <p:nvPr/>
        </p:nvSpPr>
        <p:spPr>
          <a:xfrm>
            <a:off x="5385261" y="3093442"/>
            <a:ext cx="59930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Displays total revenue generated across all transactions.</a:t>
            </a:r>
            <a:endParaRPr lang="en-US" sz="10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33360" y="3519785"/>
            <a:ext cx="6296860" cy="1128117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02020" y="3639344"/>
            <a:ext cx="159441" cy="159445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5385261" y="4051300"/>
            <a:ext cx="59930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5" name="Text 6"/>
          <p:cNvSpPr/>
          <p:nvPr/>
        </p:nvSpPr>
        <p:spPr>
          <a:xfrm>
            <a:off x="5385261" y="4314924"/>
            <a:ext cx="59930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Represents overall order activity in the dataset.</a:t>
            </a:r>
            <a:endParaRPr lang="en-US" sz="100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33360" y="4741267"/>
            <a:ext cx="6296860" cy="1128117"/>
          </a:xfrm>
          <a:prstGeom prst="rect">
            <a:avLst/>
          </a:prstGeom>
        </p:spPr>
      </p:pic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02020" y="4860826"/>
            <a:ext cx="159441" cy="159445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5385261" y="5272782"/>
            <a:ext cx="59930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Churn Rate</a:t>
            </a:r>
            <a:endParaRPr lang="en-US" sz="1300" dirty="0"/>
          </a:p>
        </p:txBody>
      </p:sp>
      <p:sp>
        <p:nvSpPr>
          <p:cNvPr id="19" name="Text 8"/>
          <p:cNvSpPr/>
          <p:nvPr/>
        </p:nvSpPr>
        <p:spPr>
          <a:xfrm>
            <a:off x="5385261" y="5536406"/>
            <a:ext cx="59930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Percentage of customers classified as churned.</a:t>
            </a:r>
            <a:endParaRPr lang="en-US" sz="1000" dirty="0"/>
          </a:p>
        </p:txBody>
      </p:sp>
      <p:sp>
        <p:nvSpPr>
          <p:cNvPr id="20" name="Text 9"/>
          <p:cNvSpPr/>
          <p:nvPr/>
        </p:nvSpPr>
        <p:spPr>
          <a:xfrm>
            <a:off x="5233360" y="5974457"/>
            <a:ext cx="6296860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Visualizations include </a:t>
            </a:r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Bar Charts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(category analysis), </a:t>
            </a:r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Area Charts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(trend analysis), and </a:t>
            </a:r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Scatter Plots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(relationship analysis) for an interactive, consolidated business view.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404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Key Results &amp; Recommendations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9717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Key Findings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281462"/>
            <a:ext cx="5203794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customer base, order activity, and revenue performance identified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purchasing patterns examined across segments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Churn rate and characteristics analyzed via SQL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Results visualized through an interactive Power BI dashboard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96651" y="2608163"/>
            <a:ext cx="5476043" cy="2515791"/>
          </a:xfrm>
          <a:prstGeom prst="roundRect">
            <a:avLst>
              <a:gd name="adj" fmla="val 1127"/>
            </a:avLst>
          </a:prstGeom>
          <a:solidFill>
            <a:srgbClr val="325F7B"/>
          </a:solidFill>
          <a:ln/>
        </p:spPr>
      </p:sp>
      <p:sp>
        <p:nvSpPr>
          <p:cNvPr id="6" name="Text 4"/>
          <p:cNvSpPr/>
          <p:nvPr/>
        </p:nvSpPr>
        <p:spPr>
          <a:xfrm>
            <a:off x="6385658" y="2797175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Business Recommendations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85658" y="3281462"/>
            <a:ext cx="509802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Engage churn-prone customers proactively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high-value, high-revenue customers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 targeted marketing based on purchasing patterns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 revenue and order trends regularly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personalized offers and customer engagement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46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Conclusion &amp; Future Scope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3773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Conclusion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322016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project demonstrates an integrated analytics workflow —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Python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preprocessing and EDA,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SQL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churn and business analysis,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Power BI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interactive visualization — converting raw customer data into meaningful, decision-ready insights.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72070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Limitations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204990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Analysis is based on historical data; churn modeling is descriptive, not predictive.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183773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Future Scope</a:t>
            </a:r>
            <a:endParaRPr lang="en-US" sz="18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3616" y="2355056"/>
            <a:ext cx="283461" cy="2834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7024" y="2345630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Churn Prediction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ML models to forecast at-risk customers</a:t>
            </a:r>
            <a:endParaRPr lang="en-US" sz="14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3616" y="3337917"/>
            <a:ext cx="283461" cy="2834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7024" y="3328491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Advanced Segmentation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K-Means clustering for deeper customer groups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3616" y="4320778"/>
            <a:ext cx="283461" cy="2834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47024" y="4311352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Real-Time Dashboard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Live data feeds in Power BI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3616" y="5275263"/>
            <a:ext cx="283461" cy="2834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47024" y="5265837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Recommendation System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Personalized product suggestions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2026-09-03T17:55:10Z</dcterms:created>
  <dcterms:modified xsi:type="dcterms:W3CDTF">2026-09-03T17:55:10Z</dcterms:modified>
</cp:coreProperties>
</file>